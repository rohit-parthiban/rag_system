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layfair Display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f14bbee0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f14bbee0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f14bbee0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f14bbee0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14bbee0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14bbee0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f14bbee0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f14bbee0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f14bbee0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f14bbee0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f14bbee0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f14bbee0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f14bbee0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f14bbee0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f14bbee0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f14bbee0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f14bbee0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f14bbee0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f14bbee0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f14bbee0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                Implementing RAG to Chat with your emails </a:t>
            </a:r>
            <a:endParaRPr b="1" sz="2300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Rohit Parthiban</a:t>
            </a:r>
            <a:br>
              <a:rPr lang="en-GB"/>
            </a:br>
            <a:r>
              <a:rPr lang="en-GB"/>
              <a:t>Kushhal Sathish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Scope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Large Language Models (LLMs) are advanced AI systems designed to process and generate human-like text by learning from extensive datasets. </a:t>
            </a:r>
            <a:br>
              <a:rPr lang="en-GB" sz="1300"/>
            </a:br>
            <a:r>
              <a:rPr lang="en-GB" sz="1300"/>
              <a:t>Uses: tasks such as language translation, text summarization, and conversational responses,etc.</a:t>
            </a:r>
            <a:br>
              <a:rPr lang="en-GB"/>
            </a:br>
            <a:r>
              <a:rPr lang="en-GB" sz="1500"/>
              <a:t>LLM - </a:t>
            </a:r>
            <a:r>
              <a:rPr lang="en-GB" sz="1500"/>
              <a:t>visibility</a:t>
            </a:r>
            <a:r>
              <a:rPr lang="en-GB" sz="1500"/>
              <a:t> - the data which is pre-trained.</a:t>
            </a:r>
            <a:br>
              <a:rPr lang="en-GB" sz="1500"/>
            </a:br>
            <a:r>
              <a:rPr lang="en-GB" sz="1500"/>
              <a:t>Mitigation - Using RAG’s (Retrieval Augmented Generation)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Usecase: Getting user query response from LLM by adding email data.</a:t>
            </a:r>
            <a:br>
              <a:rPr lang="en-GB" sz="1500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524000" y="-4362450"/>
            <a:ext cx="89574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RAG’S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39626"/>
              <a:buFont typeface="Arial"/>
              <a:buNone/>
            </a:pPr>
            <a:r>
              <a:rPr b="1" lang="en-GB" sz="2775">
                <a:latin typeface="Arial"/>
                <a:ea typeface="Arial"/>
                <a:cs typeface="Arial"/>
                <a:sym typeface="Arial"/>
              </a:rPr>
              <a:t>Definition:</a:t>
            </a:r>
            <a:endParaRPr b="1" sz="27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75">
                <a:latin typeface="Arial"/>
                <a:ea typeface="Arial"/>
                <a:cs typeface="Arial"/>
                <a:sym typeface="Arial"/>
              </a:rPr>
              <a:t>RAG (Retrieval-Augmented Generation) is a hybrid AI approach that combines a retrieval system with a generative language model to produce accurate and contextually relevant responses.</a:t>
            </a:r>
            <a:endParaRPr sz="2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775"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 sz="2775">
              <a:latin typeface="Arial"/>
              <a:ea typeface="Arial"/>
              <a:cs typeface="Arial"/>
              <a:sym typeface="Arial"/>
            </a:endParaRPr>
          </a:p>
          <a:p>
            <a:pPr indent="-30629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en-GB" sz="2575">
                <a:latin typeface="Arial"/>
                <a:ea typeface="Arial"/>
                <a:cs typeface="Arial"/>
                <a:sym typeface="Arial"/>
              </a:rPr>
              <a:t>Input Query:</a:t>
            </a:r>
            <a:endParaRPr b="1" sz="2575">
              <a:latin typeface="Arial"/>
              <a:ea typeface="Arial"/>
              <a:cs typeface="Arial"/>
              <a:sym typeface="Arial"/>
            </a:endParaRPr>
          </a:p>
          <a:p>
            <a:pPr indent="-306295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GB" sz="2575">
                <a:latin typeface="Arial"/>
                <a:ea typeface="Arial"/>
                <a:cs typeface="Arial"/>
                <a:sym typeface="Arial"/>
              </a:rPr>
              <a:t>User submits a question or prompt. -&gt; (vector embeddings)</a:t>
            </a:r>
            <a:endParaRPr sz="2575">
              <a:latin typeface="Arial"/>
              <a:ea typeface="Arial"/>
              <a:cs typeface="Arial"/>
              <a:sym typeface="Arial"/>
            </a:endParaRPr>
          </a:p>
          <a:p>
            <a:pPr indent="-30629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en-GB" sz="2575">
                <a:latin typeface="Arial"/>
                <a:ea typeface="Arial"/>
                <a:cs typeface="Arial"/>
                <a:sym typeface="Arial"/>
              </a:rPr>
              <a:t>Retrieve Step:</a:t>
            </a:r>
            <a:endParaRPr b="1" sz="2575">
              <a:latin typeface="Arial"/>
              <a:ea typeface="Arial"/>
              <a:cs typeface="Arial"/>
              <a:sym typeface="Arial"/>
            </a:endParaRPr>
          </a:p>
          <a:p>
            <a:pPr indent="-306295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GB" sz="2575">
                <a:latin typeface="Arial"/>
                <a:ea typeface="Arial"/>
                <a:cs typeface="Arial"/>
                <a:sym typeface="Arial"/>
              </a:rPr>
              <a:t>The retriever searches for related content from an indexed knowledge source.</a:t>
            </a:r>
            <a:endParaRPr sz="2575">
              <a:latin typeface="Arial"/>
              <a:ea typeface="Arial"/>
              <a:cs typeface="Arial"/>
              <a:sym typeface="Arial"/>
            </a:endParaRPr>
          </a:p>
          <a:p>
            <a:pPr indent="-30629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en-GB" sz="2575">
                <a:latin typeface="Arial"/>
                <a:ea typeface="Arial"/>
                <a:cs typeface="Arial"/>
                <a:sym typeface="Arial"/>
              </a:rPr>
              <a:t>Generate Step:</a:t>
            </a:r>
            <a:endParaRPr b="1" sz="2575">
              <a:latin typeface="Arial"/>
              <a:ea typeface="Arial"/>
              <a:cs typeface="Arial"/>
              <a:sym typeface="Arial"/>
            </a:endParaRPr>
          </a:p>
          <a:p>
            <a:pPr indent="-306295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GB" sz="2575">
                <a:latin typeface="Arial"/>
                <a:ea typeface="Arial"/>
                <a:cs typeface="Arial"/>
                <a:sym typeface="Arial"/>
              </a:rPr>
              <a:t>The LLM uses the retrieved information to construct a detailed, accurate response.</a:t>
            </a:r>
            <a:endParaRPr sz="2575">
              <a:latin typeface="Arial"/>
              <a:ea typeface="Arial"/>
              <a:cs typeface="Arial"/>
              <a:sym typeface="Arial"/>
            </a:endParaRPr>
          </a:p>
          <a:p>
            <a:pPr indent="-30629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b="1" lang="en-GB" sz="2575">
                <a:latin typeface="Arial"/>
                <a:ea typeface="Arial"/>
                <a:cs typeface="Arial"/>
                <a:sym typeface="Arial"/>
              </a:rPr>
              <a:t>Output:</a:t>
            </a:r>
            <a:endParaRPr b="1" sz="2575">
              <a:latin typeface="Arial"/>
              <a:ea typeface="Arial"/>
              <a:cs typeface="Arial"/>
              <a:sym typeface="Arial"/>
            </a:endParaRPr>
          </a:p>
          <a:p>
            <a:pPr indent="-306295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GB" sz="2575">
                <a:latin typeface="Arial"/>
                <a:ea typeface="Arial"/>
                <a:cs typeface="Arial"/>
                <a:sym typeface="Arial"/>
              </a:rPr>
              <a:t>The system delivers a generated answer augmented by reliable, retrieved knowledge.</a:t>
            </a:r>
            <a:endParaRPr sz="2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50" y="219375"/>
            <a:ext cx="9143999" cy="457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Used Frameworks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698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Beautiful soup</a:t>
            </a:r>
            <a:br>
              <a:rPr lang="en-GB"/>
            </a:br>
            <a:r>
              <a:rPr lang="en-GB"/>
              <a:t>LangChain </a:t>
            </a:r>
            <a:br>
              <a:rPr lang="en-GB"/>
            </a:br>
            <a:r>
              <a:rPr lang="en-GB"/>
              <a:t>Chromadb</a:t>
            </a:r>
            <a:br>
              <a:rPr lang="en-GB"/>
            </a:br>
            <a:r>
              <a:rPr lang="en-GB"/>
              <a:t>gpt4all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Chroma Vector Store (SEQ)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500" y="1327725"/>
            <a:ext cx="2944626" cy="3062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FineTuning Gemma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If using fine-tuned model, quantize to GGUF Format</a:t>
            </a:r>
            <a:endParaRPr sz="15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quantizing, we can either: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the llama.cpp library written in C,C++ for this. </a:t>
            </a:r>
            <a:br>
              <a:rPr lang="en-GB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Or we can use LangChain's functionality.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7826"/>
              <a:buFont typeface="Arial"/>
              <a:buNone/>
            </a:pPr>
            <a:r>
              <a:rPr b="1" lang="en-GB" sz="23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LoRA (Low-rank </a:t>
            </a:r>
            <a:r>
              <a:rPr b="1" lang="en-GB" sz="23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Adaptation</a:t>
            </a:r>
            <a:r>
              <a:rPr b="1" lang="en-GB" sz="23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of AI Large Language Models) for fine-tuning LLM models</a:t>
            </a:r>
            <a:endParaRPr b="1" sz="2300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304602"/>
            <a:ext cx="8520600" cy="37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75" y="1298850"/>
            <a:ext cx="2542400" cy="8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75" y="2425650"/>
            <a:ext cx="2135876" cy="10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800" y="3597875"/>
            <a:ext cx="2494275" cy="1276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3850" y="1439300"/>
            <a:ext cx="2399199" cy="12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3850" y="2775025"/>
            <a:ext cx="1955525" cy="10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3850" y="3883775"/>
            <a:ext cx="2135876" cy="1092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36675" y="2260075"/>
            <a:ext cx="1280200" cy="20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322" y="1374163"/>
            <a:ext cx="4978199" cy="305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649" y="1428750"/>
            <a:ext cx="4573800" cy="280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047" y="1309675"/>
            <a:ext cx="4653900" cy="285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